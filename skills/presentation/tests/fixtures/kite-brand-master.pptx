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cover / title slide master. One big idea, breathing room, logo lockup.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clear style: color, type, and logo in one place. This is the reference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/ table-of-contents master. Numbered, generous line height, clear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master. Full coral background, giant number, one line of title. Use between chapters.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Content-rich master: three text columns for dense narrative. Lead with a summary line, keep columns 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 layout master: equal columns each led by a simple geometric icon. Good for pillars, steps, or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Kicker-box master: a grid of cards, each tagged with a colored kicker label. Great for takeaways, categories, or a mixed set of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Data-viz master: one chart plus supporting stat callouts. Let a single clear chart carry the slide; annotate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/ thank-you master. Mirror the cover: big warm statement, logo, and a single clear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47750"/>
            <a:ext cx="438072" cy="438072"/>
          </a:xfrm>
          <a:prstGeom prst="roundRect">
            <a:avLst>
              <a:gd name="adj" fmla="val 30440"/>
            </a:avLst>
          </a:prstGeom>
          <a:solidFill>
            <a:srgbClr val="FF5A3C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191039" y="119039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638145" y="1105211"/>
            <a:ext cx="597098" cy="361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5655598"/>
            <a:ext cx="17811750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PRESENTATION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6168214"/>
            <a:ext cx="14668500" cy="1263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497"/>
              </a:lnSpc>
              <a:buNone/>
            </a:pPr>
            <a:r>
              <a:rPr lang="en-US" sz="9900" b="1" spc="-225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Master Deck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1047750" y="7717839"/>
            <a:ext cx="8829676" cy="932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09"/>
              </a:lnSpc>
              <a:buNone/>
            </a:pPr>
            <a:r>
              <a:rPr lang="en-US" sz="255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friendly, flexible set of slide templates for the whole team to build on.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47750" y="9221909"/>
            <a:ext cx="2865369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· Company-wide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369930" y="9297228"/>
            <a:ext cx="114274" cy="114274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10" name="Text 8"/>
          <p:cNvSpPr/>
          <p:nvPr/>
        </p:nvSpPr>
        <p:spPr>
          <a:xfrm>
            <a:off x="16579454" y="9221909"/>
            <a:ext cx="736886" cy="29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kite.co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22"/>
            <a:ext cx="17811750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06840"/>
            <a:ext cx="17811750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50"/>
              </a:lnSpc>
              <a:buNone/>
            </a:pPr>
            <a:r>
              <a:rPr lang="en-US" sz="5400" b="1" spc="-112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clear, friendly style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2519337"/>
            <a:ext cx="6368214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047750" y="2969057"/>
            <a:ext cx="2827993" cy="1409597"/>
          </a:xfrm>
          <a:prstGeom prst="roundRect">
            <a:avLst>
              <a:gd name="adj" fmla="val 10812"/>
            </a:avLst>
          </a:prstGeom>
          <a:solidFill>
            <a:srgbClr val="FF5A3C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3102407"/>
            <a:ext cx="2646133" cy="118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09042" y="2969057"/>
            <a:ext cx="2827993" cy="1409597"/>
          </a:xfrm>
          <a:prstGeom prst="roundRect">
            <a:avLst>
              <a:gd name="adj" fmla="val 10812"/>
            </a:avLst>
          </a:prstGeom>
          <a:solidFill>
            <a:srgbClr val="FFC23C"/>
          </a:solidFill>
          <a:ln/>
        </p:spPr>
      </p:sp>
      <p:sp>
        <p:nvSpPr>
          <p:cNvPr id="8" name="Text 6"/>
          <p:cNvSpPr/>
          <p:nvPr/>
        </p:nvSpPr>
        <p:spPr>
          <a:xfrm>
            <a:off x="4142392" y="3102407"/>
            <a:ext cx="2646133" cy="118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47750" y="4511951"/>
            <a:ext cx="2827993" cy="1409597"/>
          </a:xfrm>
          <a:prstGeom prst="roundRect">
            <a:avLst>
              <a:gd name="adj" fmla="val 10812"/>
            </a:avLst>
          </a:prstGeom>
          <a:solidFill>
            <a:srgbClr val="241D1A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4645301"/>
            <a:ext cx="2646133" cy="118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09042" y="4511951"/>
            <a:ext cx="2827993" cy="1442727"/>
          </a:xfrm>
          <a:prstGeom prst="roundRect">
            <a:avLst>
              <a:gd name="adj" fmla="val 10563"/>
            </a:avLst>
          </a:prstGeom>
          <a:solidFill>
            <a:srgbClr val="FDF6F1"/>
          </a:solidFill>
          <a:ln w="16565">
            <a:solidFill>
              <a:srgbClr val="EC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8957" y="4661867"/>
            <a:ext cx="2613003" cy="118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56083" y="2519337"/>
            <a:ext cx="5537701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256083" y="2969057"/>
            <a:ext cx="553770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259"/>
              </a:lnSpc>
              <a:buNone/>
            </a:pPr>
            <a:r>
              <a:rPr lang="en-US" sz="4800" b="1" spc="-112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Poppins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256083" y="3597629"/>
            <a:ext cx="5537701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&amp; headings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256083" y="4085397"/>
            <a:ext cx="5537701" cy="48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Sans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256083" y="4589730"/>
            <a:ext cx="5537701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&amp; captions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256083" y="5039450"/>
            <a:ext cx="5185302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75"/>
              </a:lnSpc>
              <a:buNone/>
            </a:pPr>
            <a:r>
              <a:rPr lang="en-US" sz="180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dog. 0123456789.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709404" y="2519337"/>
            <a:ext cx="4983930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709404" y="2969057"/>
            <a:ext cx="4530846" cy="6962568"/>
          </a:xfrm>
          <a:prstGeom prst="roundRect">
            <a:avLst>
              <a:gd name="adj" fmla="val 4205"/>
            </a:avLst>
          </a:prstGeom>
          <a:solidFill>
            <a:srgbClr val="FFFFFF"/>
          </a:solidFill>
          <a:ln w="16565">
            <a:solidFill>
              <a:srgbClr val="ECDF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517602" y="5669316"/>
            <a:ext cx="914322" cy="914322"/>
          </a:xfrm>
          <a:prstGeom prst="roundRect">
            <a:avLst>
              <a:gd name="adj" fmla="val 29169"/>
            </a:avLst>
          </a:prstGeom>
          <a:solidFill>
            <a:srgbClr val="FF5A3C"/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14812385" y="5964649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21187" y="685023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F5A3C"/>
          </a:solidFill>
          <a:ln/>
        </p:spPr>
      </p:sp>
      <p:sp>
        <p:nvSpPr>
          <p:cNvPr id="24" name="Shape 22"/>
          <p:cNvSpPr/>
          <p:nvPr/>
        </p:nvSpPr>
        <p:spPr>
          <a:xfrm rot="2700000">
            <a:off x="14544624" y="6974221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35485" y="6858518"/>
            <a:ext cx="669054" cy="40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37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Kite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22"/>
            <a:ext cx="7213674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5865"/>
            <a:ext cx="7213674" cy="874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41"/>
              </a:lnSpc>
              <a:buNone/>
            </a:pPr>
            <a:r>
              <a:rPr lang="en-US" sz="6600" b="1" spc="-150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047750" y="8372941"/>
            <a:ext cx="6754622" cy="866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69"/>
              </a:lnSpc>
              <a:buNone/>
            </a:pPr>
            <a:r>
              <a:rPr lang="en-US" sz="225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sections. Roughly forty-five minutes with time for questions.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367635" y="3639689"/>
            <a:ext cx="8872615" cy="16565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6" name="Text 4"/>
          <p:cNvSpPr/>
          <p:nvPr/>
        </p:nvSpPr>
        <p:spPr>
          <a:xfrm>
            <a:off x="8367635" y="2944856"/>
            <a:ext cx="742950" cy="48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358183" y="2961421"/>
            <a:ext cx="3562919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8367635" y="4655732"/>
            <a:ext cx="8872615" cy="16565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9" name="Text 7"/>
          <p:cNvSpPr/>
          <p:nvPr/>
        </p:nvSpPr>
        <p:spPr>
          <a:xfrm>
            <a:off x="8367635" y="3960899"/>
            <a:ext cx="742950" cy="48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358183" y="3977464"/>
            <a:ext cx="4359409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that matter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8367635" y="5671775"/>
            <a:ext cx="8872615" cy="16565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12" name="Text 10"/>
          <p:cNvSpPr/>
          <p:nvPr/>
        </p:nvSpPr>
        <p:spPr>
          <a:xfrm>
            <a:off x="8367635" y="4976942"/>
            <a:ext cx="742950" cy="48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358183" y="4993507"/>
            <a:ext cx="4581202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building next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8367635" y="6687818"/>
            <a:ext cx="8872615" cy="16565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15" name="Text 13"/>
          <p:cNvSpPr/>
          <p:nvPr/>
        </p:nvSpPr>
        <p:spPr>
          <a:xfrm>
            <a:off x="8367635" y="5992985"/>
            <a:ext cx="742950" cy="48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58183" y="6009551"/>
            <a:ext cx="4647398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team fits together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8367635" y="7009029"/>
            <a:ext cx="742950" cy="48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58183" y="7025594"/>
            <a:ext cx="4138470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5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919231"/>
            <a:ext cx="17811750" cy="2166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622"/>
              </a:lnSpc>
              <a:buNone/>
            </a:pPr>
            <a:r>
              <a:rPr lang="en-US" sz="21000" b="1" spc="-60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1047750" y="5276410"/>
            <a:ext cx="17811750" cy="949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29"/>
              </a:lnSpc>
              <a:buNone/>
            </a:pPr>
            <a:r>
              <a:rPr lang="en-US" sz="720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47750" y="6473247"/>
            <a:ext cx="9810751" cy="932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09"/>
              </a:lnSpc>
              <a:buNone/>
            </a:pPr>
            <a:r>
              <a:rPr lang="en-US" sz="25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tour of the templates in this deck and how to make them your own.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047750" y="9315606"/>
            <a:ext cx="361846" cy="361846"/>
          </a:xfrm>
          <a:prstGeom prst="roundRect">
            <a:avLst>
              <a:gd name="adj" fmla="val 2895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1167020" y="9434509"/>
            <a:ext cx="123825" cy="123825"/>
          </a:xfrm>
          <a:prstGeom prst="roundRect">
            <a:avLst>
              <a:gd name="adj" fmla="val 23077"/>
            </a:avLst>
          </a:prstGeom>
          <a:solidFill>
            <a:srgbClr val="FF5A3C"/>
          </a:solidFill>
          <a:ln/>
        </p:spPr>
      </p:sp>
      <p:sp>
        <p:nvSpPr>
          <p:cNvPr id="7" name="Text 5"/>
          <p:cNvSpPr/>
          <p:nvPr/>
        </p:nvSpPr>
        <p:spPr>
          <a:xfrm>
            <a:off x="1542895" y="9355724"/>
            <a:ext cx="544167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Kite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22"/>
            <a:ext cx="17811750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CONTENT-RICH LAYOUT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06840"/>
            <a:ext cx="13620750" cy="659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41"/>
              </a:lnSpc>
              <a:buNone/>
            </a:pPr>
            <a:r>
              <a:rPr lang="en-US" sz="4950" b="1" spc="-112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for the full story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047750" y="2061334"/>
            <a:ext cx="11772900" cy="866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69"/>
              </a:lnSpc>
              <a:buNone/>
            </a:pPr>
            <a:r>
              <a:rPr lang="en-US" sz="225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layout when a topic needs real explanation. Three balanced columns keep dense text scannable.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3384869"/>
            <a:ext cx="5546099" cy="38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3885061"/>
            <a:ext cx="5193166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9"/>
              </a:lnSpc>
              <a:buNone/>
            </a:pPr>
            <a:r>
              <a:rPr lang="en-US" sz="1950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context first. Explain what changed, why it matters now, and who is affected. Keep each idea to a short paragraph so the eye can rest between them.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22981" y="3384869"/>
            <a:ext cx="5546099" cy="38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22981" y="3885061"/>
            <a:ext cx="5193166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9"/>
              </a:lnSpc>
              <a:buNone/>
            </a:pPr>
            <a:r>
              <a:rPr lang="en-US" sz="1950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the evidence in plain language. Lead with the finding, then the detail that supports it.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622981" y="5199408"/>
            <a:ext cx="519316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9"/>
              </a:lnSpc>
              <a:buNone/>
            </a:pPr>
            <a:r>
              <a:rPr lang="en-US" sz="1950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shorter paragraphs read better than one long block on a projected slide.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198212" y="3384869"/>
            <a:ext cx="5546242" cy="38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198212" y="3885061"/>
            <a:ext cx="519329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9"/>
              </a:lnSpc>
              <a:buNone/>
            </a:pPr>
            <a:r>
              <a:rPr lang="en-US" sz="1950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with the implication and the recommended next step. This is the part the audience will remember, so keep it direct and specific rather than hedged.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22"/>
            <a:ext cx="17811750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LAYOUT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06840"/>
            <a:ext cx="17811750" cy="659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41"/>
              </a:lnSpc>
              <a:buNone/>
            </a:pPr>
            <a:r>
              <a:rPr lang="en-US" sz="4950" b="1" spc="-112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even pillars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2423310"/>
            <a:ext cx="723822" cy="723822"/>
          </a:xfrm>
          <a:prstGeom prst="roundRect">
            <a:avLst>
              <a:gd name="adj" fmla="val 26319"/>
            </a:avLst>
          </a:prstGeom>
          <a:solidFill>
            <a:srgbClr val="FFE4DC"/>
          </a:solidFill>
          <a:ln/>
        </p:spPr>
      </p:sp>
      <p:sp>
        <p:nvSpPr>
          <p:cNvPr id="5" name="Shape 3"/>
          <p:cNvSpPr/>
          <p:nvPr/>
        </p:nvSpPr>
        <p:spPr>
          <a:xfrm>
            <a:off x="1266722" y="2642282"/>
            <a:ext cx="285750" cy="285750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413729"/>
            <a:ext cx="5602046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50" y="3936310"/>
            <a:ext cx="524555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75"/>
              </a:lnSpc>
              <a:buNone/>
            </a:pPr>
            <a:r>
              <a:rPr lang="en-US" sz="2025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column carries one idea. A geometric icon, a short heading, and a couple of supporting lines.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597616" y="2423310"/>
            <a:ext cx="723822" cy="723822"/>
          </a:xfrm>
          <a:prstGeom prst="roundRect">
            <a:avLst>
              <a:gd name="adj" fmla="val 26319"/>
            </a:avLst>
          </a:prstGeom>
          <a:solidFill>
            <a:srgbClr val="FFF2CF"/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6825336" y="2652128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FC23C"/>
          </a:solidFill>
          <a:ln/>
        </p:spPr>
      </p:sp>
      <p:sp>
        <p:nvSpPr>
          <p:cNvPr id="10" name="Text 8"/>
          <p:cNvSpPr/>
          <p:nvPr/>
        </p:nvSpPr>
        <p:spPr>
          <a:xfrm>
            <a:off x="6597616" y="3413729"/>
            <a:ext cx="5602046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597616" y="3936310"/>
            <a:ext cx="524555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75"/>
              </a:lnSpc>
              <a:buNone/>
            </a:pPr>
            <a:r>
              <a:rPr lang="en-US" sz="2025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columns roughly the same length so the slide feels calm and considered rather than lopsided.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2147482" y="2423310"/>
            <a:ext cx="723822" cy="723822"/>
          </a:xfrm>
          <a:prstGeom prst="roundRect">
            <a:avLst>
              <a:gd name="adj" fmla="val 26319"/>
            </a:avLst>
          </a:prstGeom>
          <a:solidFill>
            <a:srgbClr val="E9E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66453" y="264228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41D1A"/>
          </a:solidFill>
          <a:ln/>
        </p:spPr>
      </p:sp>
      <p:sp>
        <p:nvSpPr>
          <p:cNvPr id="14" name="Text 12"/>
          <p:cNvSpPr/>
          <p:nvPr/>
        </p:nvSpPr>
        <p:spPr>
          <a:xfrm>
            <a:off x="12147482" y="3413729"/>
            <a:ext cx="5602046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147482" y="3936310"/>
            <a:ext cx="524555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75"/>
              </a:lnSpc>
              <a:buNone/>
            </a:pPr>
            <a:r>
              <a:rPr lang="en-US" sz="2025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to two columns for more room, or add a fourth when you need a tighter, denser grid.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22"/>
            <a:ext cx="17811750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 BOXES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06840"/>
            <a:ext cx="17811750" cy="659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41"/>
              </a:lnSpc>
              <a:buNone/>
            </a:pPr>
            <a:r>
              <a:rPr lang="en-US" sz="4950" b="1" spc="-112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Tagged cards for quick points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2385133"/>
            <a:ext cx="7934351" cy="3389011"/>
          </a:xfrm>
          <a:prstGeom prst="roundRect">
            <a:avLst>
              <a:gd name="adj" fmla="val 6183"/>
            </a:avLst>
          </a:prstGeom>
          <a:solidFill>
            <a:srgbClr val="FFFFFF"/>
          </a:solidFill>
          <a:ln w="16565">
            <a:solidFill>
              <a:srgbClr val="ECDF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3364" y="2782698"/>
            <a:ext cx="1021996" cy="375823"/>
          </a:xfrm>
          <a:prstGeom prst="roundRect">
            <a:avLst>
              <a:gd name="adj" fmla="val 50000"/>
            </a:avLst>
          </a:prstGeom>
          <a:solidFill>
            <a:srgbClr val="FF5A3C"/>
          </a:solidFill>
          <a:ln/>
        </p:spPr>
      </p:sp>
      <p:sp>
        <p:nvSpPr>
          <p:cNvPr id="6" name="Text 4"/>
          <p:cNvSpPr/>
          <p:nvPr/>
        </p:nvSpPr>
        <p:spPr>
          <a:xfrm>
            <a:off x="1635764" y="2858898"/>
            <a:ext cx="793396" cy="261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3364" y="3368045"/>
            <a:ext cx="7769437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assemble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483364" y="3871602"/>
            <a:ext cx="7275018" cy="766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12"/>
              </a:lnSpc>
              <a:buNone/>
            </a:pPr>
            <a:r>
              <a:rPr lang="en-US" sz="1950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 card, swap the kicker, done. The grid keeps everything aligned for you.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05899" y="2385133"/>
            <a:ext cx="7934351" cy="3389011"/>
          </a:xfrm>
          <a:prstGeom prst="roundRect">
            <a:avLst>
              <a:gd name="adj" fmla="val 6183"/>
            </a:avLst>
          </a:prstGeom>
          <a:solidFill>
            <a:srgbClr val="FFFFFF"/>
          </a:solidFill>
          <a:ln w="16565">
            <a:solidFill>
              <a:srgbClr val="EC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41513" y="2782698"/>
            <a:ext cx="1230097" cy="375823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/>
        </p:spPr>
      </p:sp>
      <p:sp>
        <p:nvSpPr>
          <p:cNvPr id="11" name="Text 9"/>
          <p:cNvSpPr/>
          <p:nvPr/>
        </p:nvSpPr>
        <p:spPr>
          <a:xfrm>
            <a:off x="9893913" y="2858898"/>
            <a:ext cx="1001497" cy="261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41513" y="3368045"/>
            <a:ext cx="7769437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scan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41513" y="3871602"/>
            <a:ext cx="7275018" cy="766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12"/>
              </a:lnSpc>
              <a:buNone/>
            </a:pPr>
            <a:r>
              <a:rPr lang="en-US" sz="1950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colored tag tells the audience what kind of point each card is making at a glance.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6097942"/>
            <a:ext cx="7934351" cy="3389011"/>
          </a:xfrm>
          <a:prstGeom prst="roundRect">
            <a:avLst>
              <a:gd name="adj" fmla="val 6183"/>
            </a:avLst>
          </a:prstGeom>
          <a:solidFill>
            <a:srgbClr val="241D1A"/>
          </a:solidFill>
          <a:ln w="16565">
            <a:solidFill>
              <a:srgbClr val="241D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3364" y="6495506"/>
            <a:ext cx="1477281" cy="375823"/>
          </a:xfrm>
          <a:prstGeom prst="roundRect">
            <a:avLst>
              <a:gd name="adj" fmla="val 50000"/>
            </a:avLst>
          </a:prstGeom>
          <a:solidFill>
            <a:srgbClr val="FF5A3C"/>
          </a:solidFill>
          <a:ln/>
        </p:spPr>
      </p:sp>
      <p:sp>
        <p:nvSpPr>
          <p:cNvPr id="16" name="Text 14"/>
          <p:cNvSpPr/>
          <p:nvPr/>
        </p:nvSpPr>
        <p:spPr>
          <a:xfrm>
            <a:off x="1635764" y="6571706"/>
            <a:ext cx="1248681" cy="261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3364" y="7080854"/>
            <a:ext cx="7769437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Emphasis on demand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483364" y="7584411"/>
            <a:ext cx="7275018" cy="766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12"/>
              </a:lnSpc>
              <a:buNone/>
            </a:pPr>
            <a:r>
              <a:rPr lang="en-US" sz="1950" dirty="0">
                <a:solidFill>
                  <a:srgbClr val="D8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a card to ink to make the single most important point stand apart from the rest.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305899" y="6097942"/>
            <a:ext cx="7934351" cy="3389011"/>
          </a:xfrm>
          <a:prstGeom prst="roundRect">
            <a:avLst>
              <a:gd name="adj" fmla="val 6183"/>
            </a:avLst>
          </a:prstGeom>
          <a:solidFill>
            <a:srgbClr val="FFE4DC"/>
          </a:solidFill>
          <a:ln w="16565">
            <a:solidFill>
              <a:srgbClr val="FFD0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41513" y="6495506"/>
            <a:ext cx="1064056" cy="375823"/>
          </a:xfrm>
          <a:prstGeom prst="roundRect">
            <a:avLst>
              <a:gd name="adj" fmla="val 50000"/>
            </a:avLst>
          </a:prstGeom>
          <a:solidFill>
            <a:srgbClr val="241D1A"/>
          </a:solidFill>
          <a:ln/>
        </p:spPr>
      </p:sp>
      <p:sp>
        <p:nvSpPr>
          <p:cNvPr id="21" name="Text 19"/>
          <p:cNvSpPr/>
          <p:nvPr/>
        </p:nvSpPr>
        <p:spPr>
          <a:xfrm>
            <a:off x="9893913" y="6571706"/>
            <a:ext cx="835456" cy="261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41513" y="7080854"/>
            <a:ext cx="7769437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Two, three, or four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741513" y="7584411"/>
            <a:ext cx="7275018" cy="766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12"/>
              </a:lnSpc>
              <a:buNone/>
            </a:pPr>
            <a:r>
              <a:rPr lang="en-US" sz="1950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card works in any count. Use four for a full grid or two for a bolder pair.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22"/>
            <a:ext cx="17811750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06840"/>
            <a:ext cx="17811750" cy="659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41"/>
              </a:lnSpc>
              <a:buNone/>
            </a:pPr>
            <a:r>
              <a:rPr lang="en-US" sz="4950" b="1" spc="-112" kern="0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one chart do the talking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9006561"/>
            <a:ext cx="9090034" cy="24848"/>
          </a:xfrm>
          <a:prstGeom prst="rect">
            <a:avLst/>
          </a:prstGeom>
          <a:solidFill>
            <a:srgbClr val="241D1A"/>
          </a:solidFill>
          <a:ln/>
        </p:spPr>
      </p:sp>
      <p:sp>
        <p:nvSpPr>
          <p:cNvPr id="5" name="Shape 3"/>
          <p:cNvSpPr/>
          <p:nvPr/>
        </p:nvSpPr>
        <p:spPr>
          <a:xfrm>
            <a:off x="1162024" y="5827333"/>
            <a:ext cx="1972555" cy="2780886"/>
          </a:xfrm>
          <a:custGeom>
            <a:avLst/>
            <a:gdLst/>
            <a:ahLst/>
            <a:cxnLst/>
            <a:rect l="l" t="t" r="r" b="b"/>
            <a:pathLst>
              <a:path w="1972555" h="2780886">
                <a:moveTo>
                  <a:pt x="114300" y="0"/>
                </a:moveTo>
                <a:lnTo>
                  <a:pt x="1858255" y="0"/>
                </a:lnTo>
                <a:arcTo hR="114300" wR="114300" stAng="16200000" swAng="5400000"/>
                <a:lnTo>
                  <a:pt x="1972555" y="2780886"/>
                </a:lnTo>
                <a:lnTo>
                  <a:pt x="0" y="2780886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D0C4"/>
          </a:solidFill>
          <a:ln/>
        </p:spPr>
      </p:sp>
      <p:sp>
        <p:nvSpPr>
          <p:cNvPr id="6" name="Text 4"/>
          <p:cNvSpPr/>
          <p:nvPr/>
        </p:nvSpPr>
        <p:spPr>
          <a:xfrm>
            <a:off x="1995720" y="8741517"/>
            <a:ext cx="381233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58378" y="4767806"/>
            <a:ext cx="1972555" cy="3840413"/>
          </a:xfrm>
          <a:custGeom>
            <a:avLst/>
            <a:gdLst/>
            <a:ahLst/>
            <a:cxnLst/>
            <a:rect l="l" t="t" r="r" b="b"/>
            <a:pathLst>
              <a:path w="1972555" h="3840413">
                <a:moveTo>
                  <a:pt x="114300" y="0"/>
                </a:moveTo>
                <a:lnTo>
                  <a:pt x="1858255" y="0"/>
                </a:lnTo>
                <a:arcTo hR="114300" wR="114300" stAng="16200000" swAng="5400000"/>
                <a:lnTo>
                  <a:pt x="1972555" y="3840413"/>
                </a:lnTo>
                <a:lnTo>
                  <a:pt x="0" y="3840413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AB97"/>
          </a:solidFill>
          <a:ln/>
        </p:spPr>
      </p:sp>
      <p:sp>
        <p:nvSpPr>
          <p:cNvPr id="8" name="Text 6"/>
          <p:cNvSpPr/>
          <p:nvPr/>
        </p:nvSpPr>
        <p:spPr>
          <a:xfrm>
            <a:off x="4292074" y="8741517"/>
            <a:ext cx="381233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54731" y="3708409"/>
            <a:ext cx="1972555" cy="4899810"/>
          </a:xfrm>
          <a:custGeom>
            <a:avLst/>
            <a:gdLst/>
            <a:ahLst/>
            <a:cxnLst/>
            <a:rect l="l" t="t" r="r" b="b"/>
            <a:pathLst>
              <a:path w="1972555" h="4899810">
                <a:moveTo>
                  <a:pt x="114300" y="0"/>
                </a:moveTo>
                <a:lnTo>
                  <a:pt x="1858255" y="0"/>
                </a:lnTo>
                <a:arcTo hR="114300" wR="114300" stAng="16200000" swAng="5400000"/>
                <a:lnTo>
                  <a:pt x="1972555" y="4899810"/>
                </a:lnTo>
                <a:lnTo>
                  <a:pt x="0" y="4899810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7D63"/>
          </a:solidFill>
          <a:ln/>
        </p:spPr>
      </p:sp>
      <p:sp>
        <p:nvSpPr>
          <p:cNvPr id="10" name="Text 8"/>
          <p:cNvSpPr/>
          <p:nvPr/>
        </p:nvSpPr>
        <p:spPr>
          <a:xfrm>
            <a:off x="6588427" y="8741517"/>
            <a:ext cx="381233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51084" y="2385133"/>
            <a:ext cx="1972555" cy="6223086"/>
          </a:xfrm>
          <a:custGeom>
            <a:avLst/>
            <a:gdLst/>
            <a:ahLst/>
            <a:cxnLst/>
            <a:rect l="l" t="t" r="r" b="b"/>
            <a:pathLst>
              <a:path w="1972555" h="6223086">
                <a:moveTo>
                  <a:pt x="114300" y="0"/>
                </a:moveTo>
                <a:lnTo>
                  <a:pt x="1858255" y="0"/>
                </a:lnTo>
                <a:arcTo hR="114300" wR="114300" stAng="16200000" swAng="5400000"/>
                <a:lnTo>
                  <a:pt x="1972555" y="6223086"/>
                </a:lnTo>
                <a:lnTo>
                  <a:pt x="0" y="6223086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5A3C"/>
          </a:solidFill>
          <a:ln/>
        </p:spPr>
      </p:sp>
      <p:sp>
        <p:nvSpPr>
          <p:cNvPr id="12" name="Text 10"/>
          <p:cNvSpPr/>
          <p:nvPr/>
        </p:nvSpPr>
        <p:spPr>
          <a:xfrm>
            <a:off x="8884780" y="8741517"/>
            <a:ext cx="381233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9221909"/>
            <a:ext cx="9999038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84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active accounts · placeholder data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47332" y="4346170"/>
            <a:ext cx="7142210" cy="750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36"/>
              </a:lnSpc>
              <a:buNone/>
            </a:pPr>
            <a:r>
              <a:rPr lang="en-US" sz="6300" b="1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+128%</a:t>
            </a:r>
            <a:endParaRPr lang="en-US" sz="6300" dirty="0"/>
          </a:p>
        </p:txBody>
      </p:sp>
      <p:sp>
        <p:nvSpPr>
          <p:cNvPr id="15" name="Text 13"/>
          <p:cNvSpPr/>
          <p:nvPr/>
        </p:nvSpPr>
        <p:spPr>
          <a:xfrm>
            <a:off x="10747332" y="5172748"/>
            <a:ext cx="7142210" cy="410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63"/>
              </a:lnSpc>
              <a:buNone/>
            </a:pPr>
            <a:r>
              <a:rPr lang="en-US" sz="2025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across the year, more than doubling from Q1.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747332" y="5926466"/>
            <a:ext cx="6492918" cy="19024"/>
          </a:xfrm>
          <a:prstGeom prst="rect">
            <a:avLst/>
          </a:prstGeom>
          <a:solidFill>
            <a:srgbClr val="ECDF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747332" y="6326489"/>
            <a:ext cx="7142210" cy="750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36"/>
              </a:lnSpc>
              <a:buNone/>
            </a:pPr>
            <a:r>
              <a:rPr lang="en-US" sz="6300" b="1" dirty="0">
                <a:solidFill>
                  <a:srgbClr val="241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42k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10747332" y="7153068"/>
            <a:ext cx="7142210" cy="410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63"/>
              </a:lnSpc>
              <a:buNone/>
            </a:pPr>
            <a:r>
              <a:rPr lang="en-US" sz="2025" dirty="0">
                <a:solidFill>
                  <a:srgbClr val="3B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accounts by the end of Q4 — a new high.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47750"/>
            <a:ext cx="438072" cy="438072"/>
          </a:xfrm>
          <a:prstGeom prst="roundRect">
            <a:avLst>
              <a:gd name="adj" fmla="val 30440"/>
            </a:avLst>
          </a:prstGeom>
          <a:solidFill>
            <a:srgbClr val="FF5A3C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191039" y="119039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638145" y="1105211"/>
            <a:ext cx="597098" cy="361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5975126"/>
            <a:ext cx="17811750" cy="1230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59"/>
              </a:lnSpc>
              <a:buNone/>
            </a:pPr>
            <a:r>
              <a:rPr lang="en-US" sz="9600" b="1" spc="-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047750" y="7453572"/>
            <a:ext cx="8829676" cy="932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09"/>
              </a:lnSpc>
              <a:buNone/>
            </a:pPr>
            <a:r>
              <a:rPr lang="en-US" sz="2550" dirty="0">
                <a:solidFill>
                  <a:srgbClr val="C9B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this deck, keep the style, and make it yours. Questions are always welcome.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47750" y="8957642"/>
            <a:ext cx="1639530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B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hello@kite.co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6314927" y="9041244"/>
            <a:ext cx="114274" cy="114274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9" name="Text 7"/>
          <p:cNvSpPr/>
          <p:nvPr/>
        </p:nvSpPr>
        <p:spPr>
          <a:xfrm>
            <a:off x="16524452" y="8957642"/>
            <a:ext cx="791942" cy="311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B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kite.co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2026-07-22T17:45:57Z</dcterms:created>
  <dcterms:modified xsi:type="dcterms:W3CDTF">2026-07-22T17:45:57Z</dcterms:modified>
</cp:coreProperties>
</file>